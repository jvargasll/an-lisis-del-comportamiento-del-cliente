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unito Light" panose="020F0502020204030204" pitchFamily="2" charset="0"/>
      <p:regular r:id="rId17"/>
    </p:embeddedFont>
    <p:embeddedFont>
      <p:font typeface="Nunito SemiBold" panose="020F0502020204030204" pitchFamily="2" charset="0"/>
      <p:regular r:id="rId18"/>
    </p:embeddedFont>
    <p:embeddedFont>
      <p:font typeface="PT Sans" panose="020F0502020204030204" pitchFamily="3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988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89986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Análisis del Comportamiento de Compra del Cliente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3004245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Jorge Arturo Vargas Llerena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9741"/>
            <a:ext cx="8096845" cy="33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Descripción del Proyecto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980629"/>
            <a:ext cx="5167089" cy="29279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9124" y="2088654"/>
            <a:ext cx="2655987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Objetivo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69124" y="2337718"/>
            <a:ext cx="2655987" cy="471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Analizar </a:t>
            </a:r>
            <a:r>
              <a:rPr lang="en-US" sz="8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3.900 transacciones</a:t>
            </a: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identificar patrones de gasto, segmentos de clientes y preferencias de productos.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23577" y="4097908"/>
            <a:ext cx="4006379" cy="615851"/>
          </a:xfrm>
          <a:prstGeom prst="roundRect">
            <a:avLst>
              <a:gd name="adj" fmla="val 27330"/>
            </a:avLst>
          </a:prstGeom>
          <a:solidFill>
            <a:srgbClr val="00002E"/>
          </a:solidFill>
          <a:ln w="9525">
            <a:solidFill>
              <a:srgbClr val="F2B4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5244" y="4219575"/>
            <a:ext cx="376304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3.900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5244" y="4435004"/>
            <a:ext cx="3763045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Compras analizadas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614044" y="4097908"/>
            <a:ext cx="4006379" cy="615851"/>
          </a:xfrm>
          <a:prstGeom prst="roundRect">
            <a:avLst>
              <a:gd name="adj" fmla="val 27330"/>
            </a:avLst>
          </a:prstGeom>
          <a:solidFill>
            <a:srgbClr val="00002E"/>
          </a:solidFill>
          <a:ln w="9525">
            <a:solidFill>
              <a:srgbClr val="D742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35711" y="4219575"/>
            <a:ext cx="376304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18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35711" y="4435004"/>
            <a:ext cx="3763045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Variables estudiadas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1716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Conjunto de Datos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756395"/>
            <a:ext cx="299219" cy="299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242617"/>
            <a:ext cx="39548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Demográficos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2552328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Edad, género, ubicación, suscripción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464" y="1756395"/>
            <a:ext cx="299219" cy="299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5464" y="2242617"/>
            <a:ext cx="3954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Compra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5464" y="2552328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Artículo, categoría, importe, temporada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3090937"/>
            <a:ext cx="299219" cy="299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3577" y="3577158"/>
            <a:ext cx="39548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Comportamiento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3577" y="3886870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Descuento, frecuencia, valoración, envío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5464" y="3090937"/>
            <a:ext cx="299219" cy="2992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5464" y="3577158"/>
            <a:ext cx="3954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Datos Faltantes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5464" y="3886870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37 valores nulos en valoración de reseña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54521"/>
            <a:ext cx="4667845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Análisis Exploratorio con Python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52577" y="998339"/>
            <a:ext cx="257101" cy="160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52577" y="1202457"/>
            <a:ext cx="4667845" cy="14288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6" name="Text 3"/>
          <p:cNvSpPr/>
          <p:nvPr/>
        </p:nvSpPr>
        <p:spPr>
          <a:xfrm>
            <a:off x="3952577" y="1295251"/>
            <a:ext cx="466784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Carga e exploración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52577" y="1550566"/>
            <a:ext cx="466784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Importación con pandas, </a:t>
            </a: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</a:t>
            </a: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52577" y="1948607"/>
            <a:ext cx="257101" cy="160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952577" y="2152724"/>
            <a:ext cx="4667845" cy="14288"/>
          </a:xfrm>
          <a:prstGeom prst="rect">
            <a:avLst/>
          </a:prstGeom>
          <a:solidFill>
            <a:srgbClr val="D7425E"/>
          </a:solidFill>
          <a:ln/>
        </p:spPr>
      </p:sp>
      <p:sp>
        <p:nvSpPr>
          <p:cNvPr id="10" name="Text 7"/>
          <p:cNvSpPr/>
          <p:nvPr/>
        </p:nvSpPr>
        <p:spPr>
          <a:xfrm>
            <a:off x="3952577" y="2245519"/>
            <a:ext cx="466784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Limpieza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952577" y="2500833"/>
            <a:ext cx="466784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Imputación de nulos con mediana por categoría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52577" y="2898874"/>
            <a:ext cx="257101" cy="160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52577" y="3102992"/>
            <a:ext cx="4667845" cy="14288"/>
          </a:xfrm>
          <a:prstGeom prst="rect">
            <a:avLst/>
          </a:prstGeom>
          <a:solidFill>
            <a:srgbClr val="DD785E"/>
          </a:solidFill>
          <a:ln/>
        </p:spPr>
      </p:sp>
      <p:sp>
        <p:nvSpPr>
          <p:cNvPr id="14" name="Text 11"/>
          <p:cNvSpPr/>
          <p:nvPr/>
        </p:nvSpPr>
        <p:spPr>
          <a:xfrm>
            <a:off x="3952577" y="3195786"/>
            <a:ext cx="466784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Ingeniería de características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952577" y="3451101"/>
            <a:ext cx="466784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Creación de </a:t>
            </a: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Grupo_Edad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</a:t>
            </a: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952577" y="3849142"/>
            <a:ext cx="257101" cy="160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952577" y="4053260"/>
            <a:ext cx="4667845" cy="14288"/>
          </a:xfrm>
          <a:prstGeom prst="rect">
            <a:avLst/>
          </a:prstGeom>
          <a:solidFill>
            <a:srgbClr val="48A8E2"/>
          </a:solidFill>
          <a:ln/>
        </p:spPr>
      </p:sp>
      <p:sp>
        <p:nvSpPr>
          <p:cNvPr id="18" name="Text 15"/>
          <p:cNvSpPr/>
          <p:nvPr/>
        </p:nvSpPr>
        <p:spPr>
          <a:xfrm>
            <a:off x="3952577" y="4146054"/>
            <a:ext cx="466784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Integración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952577" y="4401369"/>
            <a:ext cx="466784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Carga del DataFrame limpio en SQL Server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3398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Ingresos por Género y Descuentos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068" y="2160538"/>
            <a:ext cx="2618184" cy="14867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8432" y="1847924"/>
            <a:ext cx="25966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Género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8432" y="2217465"/>
            <a:ext cx="259667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Comparación de ingresos totales: hombres vs. mujeres.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028432" y="2901851"/>
            <a:ext cx="2596679" cy="19050"/>
          </a:xfrm>
          <a:prstGeom prst="roundRect">
            <a:avLst>
              <a:gd name="adj" fmla="val 60000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028432" y="3126507"/>
            <a:ext cx="25966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Descuentos y alto gasto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28432" y="3496047"/>
            <a:ext cx="259667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Clientes con descuento que superan el gasto medio.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0159"/>
            <a:ext cx="8096845" cy="3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Productos Mejor Valorados y Envíos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3" y="943570"/>
            <a:ext cx="4419972" cy="36765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8036" y="2297088"/>
            <a:ext cx="2667074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Top 5 productos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958036" y="2525613"/>
            <a:ext cx="3124274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Mayor calificación media por artículo.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58036" y="2778398"/>
            <a:ext cx="2667074" cy="14288"/>
          </a:xfrm>
          <a:prstGeom prst="roundRect">
            <a:avLst>
              <a:gd name="adj" fmla="val 5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958036" y="2902148"/>
            <a:ext cx="2667074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Envío estándar vs. exprés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58036" y="3130674"/>
            <a:ext cx="3124274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Comparación del importe medio por tipo de envío.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973634"/>
            <a:ext cx="4235872" cy="14306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2628602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Suscriptores vs. No Suscriptores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23577" y="3292971"/>
            <a:ext cx="8096845" cy="876821"/>
          </a:xfrm>
          <a:prstGeom prst="roundRect">
            <a:avLst>
              <a:gd name="adj" fmla="val 25595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7865" y="3307259"/>
            <a:ext cx="4034135" cy="848246"/>
          </a:xfrm>
          <a:prstGeom prst="rect">
            <a:avLst/>
          </a:prstGeom>
          <a:solidFill>
            <a:srgbClr val="00002E"/>
          </a:solidFill>
          <a:ln/>
        </p:spPr>
      </p:sp>
      <p:sp>
        <p:nvSpPr>
          <p:cNvPr id="6" name="Text 3"/>
          <p:cNvSpPr/>
          <p:nvPr/>
        </p:nvSpPr>
        <p:spPr>
          <a:xfrm>
            <a:off x="687437" y="3456831"/>
            <a:ext cx="373499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Suscriptores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7437" y="3766542"/>
            <a:ext cx="37349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Mayor gasto promedio e ingreso total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0" y="3307259"/>
            <a:ext cx="4034135" cy="848246"/>
          </a:xfrm>
          <a:prstGeom prst="rect">
            <a:avLst/>
          </a:prstGeom>
          <a:solidFill>
            <a:srgbClr val="00002E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3307259"/>
            <a:ext cx="19050" cy="848246"/>
          </a:xfrm>
          <a:prstGeom prst="roundRect">
            <a:avLst>
              <a:gd name="adj" fmla="val 1178055"/>
            </a:avLst>
          </a:prstGeom>
          <a:solidFill>
            <a:srgbClr val="F05B77"/>
          </a:solidFill>
          <a:ln/>
        </p:spPr>
      </p:sp>
      <p:sp>
        <p:nvSpPr>
          <p:cNvPr id="10" name="Text 7"/>
          <p:cNvSpPr/>
          <p:nvPr/>
        </p:nvSpPr>
        <p:spPr>
          <a:xfrm>
            <a:off x="4721572" y="3456831"/>
            <a:ext cx="373499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No suscriptores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721572" y="3766542"/>
            <a:ext cx="37349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Menor frecuencia de compra y gasto medio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0343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Dependencia de Descuentos y Segmentación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542" y="1656606"/>
            <a:ext cx="2459236" cy="14399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8432" y="1517377"/>
            <a:ext cx="259667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Productos con mayor dependencia de descuentos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8432" y="2106885"/>
            <a:ext cx="259667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5 artículos con mayor tasa de compras con descuento.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028432" y="2791271"/>
            <a:ext cx="2596679" cy="19050"/>
          </a:xfrm>
          <a:prstGeom prst="roundRect">
            <a:avLst>
              <a:gd name="adj" fmla="val 60000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028432" y="3015928"/>
            <a:ext cx="25966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Segmentación de clientes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3577" y="3553718"/>
            <a:ext cx="2599209" cy="886346"/>
          </a:xfrm>
          <a:prstGeom prst="roundRect">
            <a:avLst>
              <a:gd name="adj" fmla="val 25320"/>
            </a:avLst>
          </a:prstGeom>
          <a:solidFill>
            <a:srgbClr val="00002E">
              <a:alpha val="75000"/>
            </a:srgbClr>
          </a:solidFill>
          <a:ln w="19050">
            <a:solidFill>
              <a:srgbClr val="F2B4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2200" y="3722340"/>
            <a:ext cx="22619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Nuevo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2200" y="4032052"/>
            <a:ext cx="226196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 compra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72358" y="3553718"/>
            <a:ext cx="2599209" cy="886346"/>
          </a:xfrm>
          <a:prstGeom prst="roundRect">
            <a:avLst>
              <a:gd name="adj" fmla="val 25320"/>
            </a:avLst>
          </a:prstGeom>
          <a:solidFill>
            <a:srgbClr val="00002E">
              <a:alpha val="75000"/>
            </a:srgbClr>
          </a:solidFill>
          <a:ln w="19050">
            <a:solidFill>
              <a:srgbClr val="D742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40981" y="3722340"/>
            <a:ext cx="22619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Recurrente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440981" y="4032052"/>
            <a:ext cx="226196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2–10 compras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21139" y="3553718"/>
            <a:ext cx="2599283" cy="886346"/>
          </a:xfrm>
          <a:prstGeom prst="roundRect">
            <a:avLst>
              <a:gd name="adj" fmla="val 25320"/>
            </a:avLst>
          </a:prstGeom>
          <a:solidFill>
            <a:srgbClr val="00002E">
              <a:alpha val="75000"/>
            </a:srgbClr>
          </a:solidFill>
          <a:ln w="19050">
            <a:solidFill>
              <a:srgbClr val="DD78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89762" y="3722340"/>
            <a:ext cx="22620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Leal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89762" y="4032052"/>
            <a:ext cx="226203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+10 compras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6506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Top Productos por Categoría y Recurrentes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416" y="1697682"/>
            <a:ext cx="3665488" cy="24124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8432" y="1847924"/>
            <a:ext cx="25966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 mejores por categoría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8432" y="2217465"/>
            <a:ext cx="259667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Ranking con funciones de ventana por categoría.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028432" y="2901851"/>
            <a:ext cx="2596679" cy="19050"/>
          </a:xfrm>
          <a:prstGeom prst="roundRect">
            <a:avLst>
              <a:gd name="adj" fmla="val 60000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028432" y="3126507"/>
            <a:ext cx="25966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Recurrentes y suscripciones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28432" y="3496047"/>
            <a:ext cx="259667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¿Compradores con +5 compras se suscriben más?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70148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Panel Power BI y Recomendaciones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686" y="1214028"/>
            <a:ext cx="224358" cy="2243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9724" y="1209377"/>
            <a:ext cx="76106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Impulsar suscripciones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686" y="1966652"/>
            <a:ext cx="224358" cy="2243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9724" y="1962001"/>
            <a:ext cx="76106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Fidelización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686" y="2719276"/>
            <a:ext cx="224358" cy="2243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9724" y="2714625"/>
            <a:ext cx="76106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Revisar descuentos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686" y="3471900"/>
            <a:ext cx="224358" cy="22435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9724" y="3467249"/>
            <a:ext cx="76106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Posicionar productos top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9686" y="4224524"/>
            <a:ext cx="224358" cy="22435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9724" y="4219873"/>
            <a:ext cx="76106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Marketing dirigido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295</Words>
  <Application>Microsoft Office PowerPoint</Application>
  <PresentationFormat>Presentación en pantalla (16:9)</PresentationFormat>
  <Paragraphs>77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Nunito SemiBold</vt:lpstr>
      <vt:lpstr>Consolas</vt:lpstr>
      <vt:lpstr>Arial</vt:lpstr>
      <vt:lpstr>PT Sans</vt:lpstr>
      <vt:lpstr>Nunito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Jorge Vargas</cp:lastModifiedBy>
  <cp:revision>2</cp:revision>
  <dcterms:created xsi:type="dcterms:W3CDTF">2026-07-13T00:47:25Z</dcterms:created>
  <dcterms:modified xsi:type="dcterms:W3CDTF">2026-07-13T00:50:43Z</dcterms:modified>
</cp:coreProperties>
</file>